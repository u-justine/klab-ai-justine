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Accuracy</c:v>
                </c:pt>
              </c:strCache>
            </c:strRef>
          </c:tx>
          <c:spPr>
            <a:solidFill>
              <a:srgbClr val="3A417A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3A417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C7BFF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6C7BFF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FC857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FC8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FFC857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FFC857"/>
              </a:solidFill>
              <a:effectLst/>
            </c:spPr>
          </c:dPt>
          <c:cat>
            <c:multiLvlStrRef>
              <c:f>Sheet1!$A$2:$A$16</c:f>
              <c:multiLvlStrCache>
                <c:ptCount val="15"/>
                <c:lvl>
                  <c:pt idx="0">
                    <c:v>Naive Bayes</c:v>
                  </c:pt>
                  <c:pt idx="1">
                    <c:v>kNN</c:v>
                  </c:pt>
                  <c:pt idx="2">
                    <c:v>SGD</c:v>
                  </c:pt>
                  <c:pt idx="3">
                    <c:v>LDA</c:v>
                  </c:pt>
                  <c:pt idx="4">
                    <c:v>Logistic Reg.</c:v>
                  </c:pt>
                  <c:pt idx="5">
                    <c:v>Decision Tree</c:v>
                  </c:pt>
                  <c:pt idx="6">
                    <c:v>SVM (RBF)</c:v>
                  </c:pt>
                  <c:pt idx="7">
                    <c:v>MLP</c:v>
                  </c:pt>
                  <c:pt idx="8">
                    <c:v>Bagging</c:v>
                  </c:pt>
                  <c:pt idx="9">
                    <c:v>Random Forest</c:v>
                  </c:pt>
                  <c:pt idx="10">
                    <c:v>Extra Trees</c:v>
                  </c:pt>
                  <c:pt idx="11">
                    <c:v>LightGBM</c:v>
                  </c:pt>
                  <c:pt idx="12">
                    <c:v>XGBoost</c:v>
                  </c:pt>
                  <c:pt idx="13">
                    <c:v>CatBoost</c:v>
                  </c:pt>
                  <c:pt idx="14">
                    <c:v>HistGB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0.7622</c:v>
                </c:pt>
                <c:pt idx="1">
                  <c:v>0.7811</c:v>
                </c:pt>
                <c:pt idx="2">
                  <c:v>0.7873</c:v>
                </c:pt>
                <c:pt idx="3">
                  <c:v>0.7929</c:v>
                </c:pt>
                <c:pt idx="4">
                  <c:v>0.7963</c:v>
                </c:pt>
                <c:pt idx="5">
                  <c:v>0.7977</c:v>
                </c:pt>
                <c:pt idx="6">
                  <c:v>0.8005</c:v>
                </c:pt>
                <c:pt idx="7">
                  <c:v>0.8026</c:v>
                </c:pt>
                <c:pt idx="8">
                  <c:v>0.8016</c:v>
                </c:pt>
                <c:pt idx="9">
                  <c:v>0.8081</c:v>
                </c:pt>
                <c:pt idx="10">
                  <c:v>0.8098</c:v>
                </c:pt>
                <c:pt idx="11">
                  <c:v>0.8104</c:v>
                </c:pt>
                <c:pt idx="12">
                  <c:v>0.8131</c:v>
                </c:pt>
                <c:pt idx="13">
                  <c:v>0.8174</c:v>
                </c:pt>
                <c:pt idx="14">
                  <c:v>0.8181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EB6E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3"/>
          <c:min val="0.7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2E"/>
        </a:solidFill>
        <a:ln>
          <a:noFill/>
        </a:ln>
        <a:effectLst/>
      </c:spPr>
    </c:plotArea>
    <c:plotVisOnly val="1"/>
    <c:dispBlanksAs val="span"/>
  </c:chart>
  <c:spPr>
    <a:solidFill>
      <a:srgbClr val="0B0F2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141B45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6C7B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COMPETITION  ·  KLAB MACHINE LEARNING COURSE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Spaceship Titanic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71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who was transported to another dimension — from a naive baseline to a validated, leakage-free ensemble.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Justine Umutoni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4805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141B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TARGET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937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EB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goal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44805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141B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628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LEADERBOARD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4937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0.81014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+1.01 pts above target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dataset, a binary label, no easy shortcuts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41B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1031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8,693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rows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7830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41B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21031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4,277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926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rows (hidden label)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7830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41B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21031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926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columns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0" y="178308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41B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0" y="21031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50.4 / 49.6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926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 (%)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77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7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3434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year 2912, the Spaceship Titanic collided with a spacetime anomaly and roughly half its passengers were transported to an alternate dimension. Using damaged records recovered from the ship's computer — demographics, cabin, and spending history — the task is to predict, for each passenger, whether they were transported. The metric is plain classification accuracy: the share of the 4,277 test passengers labelled correctly.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TOLD 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patterns that shaped every feature decision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1B24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behaviour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828800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half of PassengerId identifies a travel group. Passengers in the same group share outcomes far more often than chance.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02920" cy="502920"/>
          </a:xfrm>
          <a:prstGeom prst="ellipse">
            <a:avLst/>
          </a:prstGeom>
          <a:solidFill>
            <a:srgbClr val="1B24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175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are informative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3017520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2% of every column is missing — but the missingness itself correlates with the target (e.g. missing RoomService: -4.6pp transport rate).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02920" cy="502920"/>
          </a:xfrm>
          <a:prstGeom prst="ellipse">
            <a:avLst/>
          </a:prstGeom>
          <a:solidFill>
            <a:srgbClr val="1B24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2062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is bimodal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206240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63% of passengers spent nothing on any amenity at all; the remaining 37% show wide variation.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532120"/>
            <a:ext cx="502920" cy="502920"/>
          </a:xfrm>
          <a:prstGeom prst="ellipse">
            <a:avLst/>
          </a:prstGeom>
          <a:solidFill>
            <a:srgbClr val="1B245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532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394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CryoSleep dominates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5394960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in cryosleep are transported at a much higher rate than those who are not — the single strongest raw signal in the data.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numeric + 6 categorical features, added and tested one at a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E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141B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03704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GroupLen / Solo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41448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group size, from PassengerId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80720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141B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862072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/ Zone / Pier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9981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 split into number, deck, side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465576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141B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5204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/ CashLog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5818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spend, log-corrected for skew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123944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141B4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17880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UsedCount / ZeroSpend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165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Amenity utilisation, no-spend flag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782312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141B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837176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HighEnd / LowEnd / HighRatio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07492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vs. budget spending split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141B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495544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SleepZero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733288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CryoSleep × ZeroSpend interaction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REJECTED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2148840"/>
            <a:ext cx="4754880" cy="3931920"/>
          </a:xfrm>
          <a:prstGeom prst="roundRect">
            <a:avLst>
              <a:gd name="adj" fmla="val 2326"/>
            </a:avLst>
          </a:prstGeom>
          <a:solidFill>
            <a:srgbClr val="141B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Cabin_Sector (binned cabin #)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332720" y="2377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-0.0016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268833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measurable gain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SurnameSize (from Name)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246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-0.0016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86600" y="355701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with GroupLen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4114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Group_Agreement (naive)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0" y="4114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-0.0058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42569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risk, pipeline broke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GroupCryoRate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332720" y="49834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+0.0007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086600" y="5294376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noise floor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562356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quantity is not feature quality.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MODELS, ONE CLEAR WINNER FAMILY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Boosting methods consistently outperformed every other family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1124712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ENSEMBLE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combinations tried; diversity beat raw size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28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321040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1828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40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Diverse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2240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+ XGB + SVM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3,1,2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0.8140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0.80827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770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Hybrid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7706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+ XGB + LGBM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70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70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0.8179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770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0.80710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009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33009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HGB + XGB + CatBoost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3009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3,2,2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3009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0.8075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330098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0.80360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3133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v1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38313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DT+ET+CatBoost+LGBM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8313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1,2,3,3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3831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0.8148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8313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0.80944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3616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5-Model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108960" y="4361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SVM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361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1,2,4,3,1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361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0.8146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0.80991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892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10-Model Stack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108960" y="4892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base + HGB meta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4892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0.8071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0" y="48920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0.81014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55595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B245A"/>
          </a:solidFill>
          <a:ln w="15875">
            <a:solidFill>
              <a:srgbClr val="FFC85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56692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592531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Voting  ·  DT + Extra Trees + CatBoost + LightGBM  ·  weights [1, 2, 4, 3]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5760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7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0.8164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966960" y="5760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 0.81014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SURPRISE: HIGHEST CV WASN'T THE WINNER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accuracy did not reliably predict leaderboard rank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141B45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(overfit config)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0.8181    </a:t>
            </a:r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  </a:t>
            </a:r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0.80079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+0.0173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CV of any single model — but the worst leaderboard result. Tuned too closely to the CV folds.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92024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141B45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2148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4-Model Voting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[1, 2, 4, 3]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880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0.8164    </a:t>
            </a:r>
            <a:pPr indent="0" marL="0">
              <a:buNone/>
            </a:pPr>
            <a:r>
              <a:rPr lang="en-US" sz="1200" dirty="0">
                <a:solidFill>
                  <a:srgbClr val="AEB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  </a:t>
            </a:r>
            <a:pPr indent="0" marL="0">
              <a:buNone/>
            </a:pPr>
            <a:r>
              <a:rPr lang="en-US" sz="2000" b="1" dirty="0">
                <a:solidFill>
                  <a:srgbClr val="6BE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0.81014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+0.0063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CV than HGB alone, but the smallest CV–LB gap and the best real-world result.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377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CV gains smaller than ~0.005 did not reliably translate into leaderboard gains on this dataset — repeated tuning on the same folds inflates CV without improving generalisation.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DIDN'T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Documented failures — the log rewards this as much as the wins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92808"/>
            <a:ext cx="310896" cy="310896"/>
          </a:xfrm>
          <a:prstGeom prst="ellipse">
            <a:avLst/>
          </a:prstGeom>
          <a:solidFill>
            <a:srgbClr val="FF6B6B">
              <a:alpha val="2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81965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Group_Agreement feature (3 attempts)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13055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 the pipeline each time — leakage and a ColumnTransformer/DataFrame mismatch. Abandoned; GroupLen already captured most of the signal.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310896" cy="310896"/>
          </a:xfrm>
          <a:prstGeom prst="ellipse">
            <a:avLst/>
          </a:prstGeom>
          <a:solidFill>
            <a:srgbClr val="FF6B6B">
              <a:alpha val="2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88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7157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SVM to the 4-model ensemble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02666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dropped from 0.8164 to 0.8146 — a weak model diluted a strong ensemble.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685032"/>
            <a:ext cx="310896" cy="310896"/>
          </a:xfrm>
          <a:prstGeom prst="ellipse">
            <a:avLst/>
          </a:prstGeom>
          <a:solidFill>
            <a:srgbClr val="FF6B6B">
              <a:alpha val="2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85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6118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CatBoost weight to 6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92277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rose to 0.8174 but LB fell to 0.80827 — classic overfitting to the CV folds.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581144"/>
            <a:ext cx="310896" cy="310896"/>
          </a:xfrm>
          <a:prstGeom prst="ellipse">
            <a:avLst/>
          </a:prstGeom>
          <a:solidFill>
            <a:srgbClr val="FF6B6B">
              <a:alpha val="22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81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5079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10-model stacking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81888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dropped to 0.8071 — the meta-model overfit its own out-of-fold predictions. More models isn't automatically better.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477256"/>
            <a:ext cx="310896" cy="310896"/>
          </a:xfrm>
          <a:prstGeom prst="ellipse">
            <a:avLst/>
          </a:prstGeom>
          <a:solidFill>
            <a:srgbClr val="FF6B6B">
              <a:alpha val="22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477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5404104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Surname + Cabin_Sector features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715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dropped to 0.8117 — added noise, not signal.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that shipped,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206240"/>
          </a:xfrm>
          <a:prstGeom prst="roundRect">
            <a:avLst>
              <a:gd name="adj" fmla="val 2609"/>
            </a:avLst>
          </a:prstGeom>
          <a:solidFill>
            <a:srgbClr val="141B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type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2057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VotingClassifier (soft)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157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715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Tree, Extra Trees,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CatBoost, LightGBM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7413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33741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[1, 2, 4, 3]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03250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40325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numeric + 6 categorical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690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46908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Mean/mode imputation,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StandardScaler, OneHotEncoder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49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5349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182880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1B245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0" y="19933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ACCURACY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7B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0.8164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6355080" y="324612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1B245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ACCURACY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6576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EB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0.8135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6355080" y="466344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1B245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3680" y="48280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ACCURACY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0.81014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— SUBMISSION HISTORY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versions on Kaggle, converging on the same top score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3708" y="1737360"/>
            <a:ext cx="3703320" cy="1940841"/>
          </a:xfrm>
          <a:prstGeom prst="roundRect">
            <a:avLst>
              <a:gd name="adj" fmla="val 2827"/>
            </a:avLst>
          </a:prstGeom>
          <a:solidFill>
            <a:srgbClr val="141B45"/>
          </a:solidFill>
          <a:ln/>
        </p:spPr>
      </p:sp>
      <p:pic>
        <p:nvPicPr>
          <p:cNvPr id="5" name="Image 0" descr="LB_SCORES_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9428" y="1783080"/>
            <a:ext cx="3611880" cy="184940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44188" y="1737360"/>
            <a:ext cx="3703320" cy="1940841"/>
          </a:xfrm>
          <a:prstGeom prst="roundRect">
            <a:avLst>
              <a:gd name="adj" fmla="val 2827"/>
            </a:avLst>
          </a:prstGeom>
          <a:solidFill>
            <a:srgbClr val="141B45"/>
          </a:solidFill>
          <a:ln/>
        </p:spPr>
      </p:sp>
      <p:pic>
        <p:nvPicPr>
          <p:cNvPr id="7" name="Image 1" descr="LB_SCORES_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9908" y="1783080"/>
            <a:ext cx="3611880" cy="184940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84668" y="1737360"/>
            <a:ext cx="3703320" cy="1940841"/>
          </a:xfrm>
          <a:prstGeom prst="roundRect">
            <a:avLst>
              <a:gd name="adj" fmla="val 2827"/>
            </a:avLst>
          </a:prstGeom>
          <a:solidFill>
            <a:srgbClr val="141B45"/>
          </a:solidFill>
          <a:ln/>
        </p:spPr>
      </p:sp>
      <p:pic>
        <p:nvPicPr>
          <p:cNvPr id="9" name="Image 2" descr="LB_SCORES_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0388" y="1783080"/>
            <a:ext cx="3611880" cy="184940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323948" y="3861081"/>
            <a:ext cx="3703320" cy="1940841"/>
          </a:xfrm>
          <a:prstGeom prst="roundRect">
            <a:avLst>
              <a:gd name="adj" fmla="val 2827"/>
            </a:avLst>
          </a:prstGeom>
          <a:solidFill>
            <a:srgbClr val="141B45"/>
          </a:solidFill>
          <a:ln/>
        </p:spPr>
      </p:sp>
      <p:pic>
        <p:nvPicPr>
          <p:cNvPr id="11" name="Image 3" descr="LB_SCORES_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369668" y="3906801"/>
            <a:ext cx="3611880" cy="1849401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164428" y="3861081"/>
            <a:ext cx="3703320" cy="1940841"/>
          </a:xfrm>
          <a:prstGeom prst="roundRect">
            <a:avLst>
              <a:gd name="adj" fmla="val 2827"/>
            </a:avLst>
          </a:prstGeom>
          <a:solidFill>
            <a:srgbClr val="141B45"/>
          </a:solidFill>
          <a:ln/>
        </p:spPr>
      </p:sp>
      <p:pic>
        <p:nvPicPr>
          <p:cNvPr id="13" name="Image 4" descr="LB_SCORE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10148" y="3906801"/>
            <a:ext cx="3611880" cy="1849401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LEADERBOARD POSITION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89 · Score 0.81014 · Matching personal best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76376" y="1801368"/>
            <a:ext cx="9838944" cy="5106713"/>
          </a:xfrm>
          <a:prstGeom prst="roundRect">
            <a:avLst>
              <a:gd name="adj" fmla="val 1432"/>
            </a:avLst>
          </a:prstGeom>
          <a:solidFill>
            <a:srgbClr val="141B45"/>
          </a:solidFill>
          <a:ln w="12700">
            <a:solidFill>
              <a:srgbClr val="FFC857"/>
            </a:solidFill>
            <a:prstDash val="solid"/>
          </a:ln>
        </p:spPr>
      </p:sp>
      <p:pic>
        <p:nvPicPr>
          <p:cNvPr id="5" name="Image 0" descr="my_LB_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1874520"/>
            <a:ext cx="9692640" cy="49604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41B45">
              <a:alpha val="5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that mattered more than model choice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41B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92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013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beats size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1801368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4-model ensemble outperformed a 10-model stack on both CV and leaderboard.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41B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5292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doesn't guarantee LB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852928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highest-CV model produced the lowest leaderboard score of the project.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41B4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995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0448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GroupKFold catches leakage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3904488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StratifiedKFold against GroupKFold exposed how much CV was inflated by shared travel groups.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B245A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212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0.80  →  Achieved 0.81014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5166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C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+1.01 pts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2026-09-12T14:17:24Z</dcterms:created>
  <dcterms:modified xsi:type="dcterms:W3CDTF">2026-09-12T14:17:24Z</dcterms:modified>
</cp:coreProperties>
</file>